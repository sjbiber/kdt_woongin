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여론 분포</c:v>
                </c:pt>
              </c:strCache>
            </c:strRef>
          </c:tx>
          <c:dPt>
            <c:idx val="0"/>
            <c:spPr>
              <a:solidFill>
                <a:srgbClr val="E33737"/>
              </a:solidFill>
            </c:spPr>
          </c:dPt>
          <c:dPt>
            <c:idx val="1"/>
            <c:spPr>
              <a:solidFill>
                <a:srgbClr val="00CC96"/>
              </a:solidFill>
            </c:spPr>
          </c:dPt>
          <c:dPt>
            <c:idx val="2"/>
            <c:spPr>
              <a:solidFill>
                <a:srgbClr val="636EFA"/>
              </a:solidFill>
            </c:spPr>
          </c:dPt>
          <c:cat>
            <c:strRef>
              <c:f>Sheet1!$A$2:$A$4</c:f>
              <c:strCache>
                <c:ptCount val="3"/>
                <c:pt idx="0">
                  <c:v>긍정(지지)</c:v>
                </c:pt>
                <c:pt idx="1">
                  <c:v>부정(분노/실망/조롱)</c:v>
                </c:pt>
                <c:pt idx="2">
                  <c:v>그외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50.2</c:v>
                </c:pt>
                <c:pt idx="1">
                  <c:v>37.5</c:v>
                </c:pt>
                <c:pt idx="2">
                  <c:v>12.2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논란 전</c:v>
                </c:pt>
              </c:strCache>
            </c:strRef>
          </c:tx>
          <c:spPr>
            <a:solidFill>
              <a:srgbClr val="636EFA"/>
            </a:solidFill>
          </c:spPr>
          <c:cat>
            <c:strRef>
              <c:f>Sheet1!$A$2:$A$7</c:f>
              <c:strCache>
                <c:ptCount val="6"/>
                <c:pt idx="0">
                  <c:v>지지</c:v>
                </c:pt>
                <c:pt idx="1">
                  <c:v>분노</c:v>
                </c:pt>
                <c:pt idx="2">
                  <c:v>중립</c:v>
                </c:pt>
                <c:pt idx="3">
                  <c:v>실망</c:v>
                </c:pt>
                <c:pt idx="4">
                  <c:v>조롱</c:v>
                </c:pt>
                <c:pt idx="5">
                  <c:v>그외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50.6</c:v>
                </c:pt>
                <c:pt idx="1">
                  <c:v>1.4</c:v>
                </c:pt>
                <c:pt idx="2">
                  <c:v>22.4</c:v>
                </c:pt>
                <c:pt idx="3">
                  <c:v>1.7</c:v>
                </c:pt>
                <c:pt idx="4">
                  <c:v>14.9</c:v>
                </c:pt>
                <c:pt idx="5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논란 후</c:v>
                </c:pt>
              </c:strCache>
            </c:strRef>
          </c:tx>
          <c:spPr>
            <a:solidFill>
              <a:srgbClr val="E33737"/>
            </a:solidFill>
          </c:spPr>
          <c:cat>
            <c:strRef>
              <c:f>Sheet1!$A$2:$A$7</c:f>
              <c:strCache>
                <c:ptCount val="6"/>
                <c:pt idx="0">
                  <c:v>지지</c:v>
                </c:pt>
                <c:pt idx="1">
                  <c:v>분노</c:v>
                </c:pt>
                <c:pt idx="2">
                  <c:v>중립</c:v>
                </c:pt>
                <c:pt idx="3">
                  <c:v>실망</c:v>
                </c:pt>
                <c:pt idx="4">
                  <c:v>조롱</c:v>
                </c:pt>
                <c:pt idx="5">
                  <c:v>그외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9.46</c:v>
                </c:pt>
                <c:pt idx="1">
                  <c:v>15.0</c:v>
                </c:pt>
                <c:pt idx="2">
                  <c:v>6.65</c:v>
                </c:pt>
                <c:pt idx="3">
                  <c:v>9.31</c:v>
                </c:pt>
                <c:pt idx="4">
                  <c:v>42.4</c:v>
                </c:pt>
                <c:pt idx="5">
                  <c:v>17.1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임성근(논란후)</c:v>
                </c:pt>
              </c:strCache>
            </c:strRef>
          </c:tx>
          <c:spPr>
            <a:solidFill>
              <a:srgbClr val="E33737"/>
            </a:solidFill>
          </c:spPr>
          <c:cat>
            <c:strRef>
              <c:f>Sheet1!$A$2:$A$7</c:f>
              <c:strCache>
                <c:ptCount val="6"/>
                <c:pt idx="0">
                  <c:v>조롱</c:v>
                </c:pt>
                <c:pt idx="1">
                  <c:v>분노</c:v>
                </c:pt>
                <c:pt idx="2">
                  <c:v>그외</c:v>
                </c:pt>
                <c:pt idx="3">
                  <c:v>실망</c:v>
                </c:pt>
                <c:pt idx="4">
                  <c:v>지지</c:v>
                </c:pt>
                <c:pt idx="5">
                  <c:v>중립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42.4</c:v>
                </c:pt>
                <c:pt idx="1">
                  <c:v>15.0</c:v>
                </c:pt>
                <c:pt idx="2">
                  <c:v>17.1</c:v>
                </c:pt>
                <c:pt idx="3">
                  <c:v>9.31</c:v>
                </c:pt>
                <c:pt idx="4">
                  <c:v>9.46</c:v>
                </c:pt>
                <c:pt idx="5">
                  <c:v>6.65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백종원</c:v>
                </c:pt>
              </c:strCache>
            </c:strRef>
          </c:tx>
          <c:spPr>
            <a:solidFill>
              <a:srgbClr val="636EFA"/>
            </a:solidFill>
          </c:spPr>
          <c:cat>
            <c:strRef>
              <c:f>Sheet1!$A$2:$A$7</c:f>
              <c:strCache>
                <c:ptCount val="6"/>
                <c:pt idx="0">
                  <c:v>조롱</c:v>
                </c:pt>
                <c:pt idx="1">
                  <c:v>분노</c:v>
                </c:pt>
                <c:pt idx="2">
                  <c:v>그외</c:v>
                </c:pt>
                <c:pt idx="3">
                  <c:v>실망</c:v>
                </c:pt>
                <c:pt idx="4">
                  <c:v>지지</c:v>
                </c:pt>
                <c:pt idx="5">
                  <c:v>중립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38.0</c:v>
                </c:pt>
                <c:pt idx="1">
                  <c:v>24.7</c:v>
                </c:pt>
                <c:pt idx="2">
                  <c:v>14.0</c:v>
                </c:pt>
                <c:pt idx="3">
                  <c:v>10.5</c:v>
                </c:pt>
                <c:pt idx="4">
                  <c:v>7.14</c:v>
                </c:pt>
                <c:pt idx="5">
                  <c:v>5.59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임성근 부정 비율(%)</c:v>
                </c:pt>
              </c:strCache>
            </c:strRef>
          </c:tx>
          <c:spPr>
            <a:ln w="38100">
              <a:solidFill>
                <a:srgbClr val="E33737"/>
              </a:solidFill>
            </a:ln>
          </c:spPr>
          <c:cat>
            <c:strRef>
              <c:f>Sheet1!$A$2:$A$11</c:f>
              <c:strCache>
                <c:ptCount val="10"/>
                <c:pt idx="0">
                  <c:v>1/13</c:v>
                </c:pt>
                <c:pt idx="1">
                  <c:v>1/14</c:v>
                </c:pt>
                <c:pt idx="2">
                  <c:v>1/15</c:v>
                </c:pt>
                <c:pt idx="3">
                  <c:v>1/16</c:v>
                </c:pt>
                <c:pt idx="4">
                  <c:v>1/17</c:v>
                </c:pt>
                <c:pt idx="5">
                  <c:v>1/18</c:v>
                </c:pt>
                <c:pt idx="6">
                  <c:v>1/19</c:v>
                </c:pt>
                <c:pt idx="7">
                  <c:v>1/20</c:v>
                </c:pt>
                <c:pt idx="8">
                  <c:v>1/21</c:v>
                </c:pt>
                <c:pt idx="9">
                  <c:v>1/22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9.3</c:v>
                </c:pt>
                <c:pt idx="2">
                  <c:v>4.8</c:v>
                </c:pt>
                <c:pt idx="3">
                  <c:v>11.6</c:v>
                </c:pt>
                <c:pt idx="4">
                  <c:v>7.9</c:v>
                </c:pt>
                <c:pt idx="5">
                  <c:v>22.7</c:v>
                </c:pt>
                <c:pt idx="6">
                  <c:v>72.2</c:v>
                </c:pt>
                <c:pt idx="7">
                  <c:v>72.2</c:v>
                </c:pt>
                <c:pt idx="8">
                  <c:v>67.0</c:v>
                </c:pt>
                <c:pt idx="9">
                  <c:v>70.1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백종원 부정 비율(%)</c:v>
                </c:pt>
              </c:strCache>
            </c:strRef>
          </c:tx>
          <c:spPr>
            <a:ln w="38100">
              <a:solidFill>
                <a:srgbClr val="636EFA"/>
              </a:solidFill>
            </a:ln>
          </c:spPr>
          <c:cat>
            <c:strRef>
              <c:f>Sheet1!$A$2:$A$8</c:f>
              <c:strCache>
                <c:ptCount val="7"/>
                <c:pt idx="0">
                  <c:v>25.04</c:v>
                </c:pt>
                <c:pt idx="1">
                  <c:v>25.05</c:v>
                </c:pt>
                <c:pt idx="2">
                  <c:v>25.06</c:v>
                </c:pt>
                <c:pt idx="3">
                  <c:v>25.07</c:v>
                </c:pt>
                <c:pt idx="4">
                  <c:v>25.08</c:v>
                </c:pt>
                <c:pt idx="5">
                  <c:v>25.09</c:v>
                </c:pt>
                <c:pt idx="6">
                  <c:v>25.10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85.1</c:v>
                </c:pt>
                <c:pt idx="1">
                  <c:v>80.2</c:v>
                </c:pt>
                <c:pt idx="2">
                  <c:v>57.0</c:v>
                </c:pt>
                <c:pt idx="3">
                  <c:v>76.7</c:v>
                </c:pt>
                <c:pt idx="4">
                  <c:v>51.7</c:v>
                </c:pt>
                <c:pt idx="5">
                  <c:v>60.7</c:v>
                </c:pt>
                <c:pt idx="6">
                  <c:v>46.0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600" b="1">
                <a:solidFill>
                  <a:srgbClr val="FFFFFF"/>
                </a:solidFill>
                <a:latin typeface="Arial"/>
              </a:defRPr>
            </a:pPr>
            <a:r>
              <a:t>임성근 음주운전 논란 여론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E33737"/>
                </a:solidFill>
                <a:latin typeface="Arial"/>
              </a:defRPr>
            </a:pPr>
            <a:r>
              <a:t>데이터 기반 심층 리포트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31920"/>
            <a:ext cx="3047695" cy="18288"/>
          </a:xfrm>
          <a:prstGeom prst="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AAB7B8"/>
                </a:solidFill>
                <a:latin typeface="Arial"/>
              </a:defRPr>
            </a:pPr>
            <a:r>
              <a:t>백종원 사례 비교 및 사건 소강 주기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5929E"/>
                </a:solidFill>
                <a:latin typeface="Arial"/>
              </a:defRPr>
            </a:pPr>
            <a:r>
              <a:t>2026. 01. 28  |  발표자: Antigravity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37744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33737"/>
                </a:solidFill>
                <a:latin typeface="Arial"/>
              </a:defRPr>
            </a:pPr>
            <a:r>
              <a:t>분석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2026년 1월 19일, 유튜버 임성근 음주운전 자백 사건 발생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온라인 커뮤니티 및 유튜브 채널 내 부정 여론 급등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본 보고서는 해당 사건의 부정 여론 확산 속도를 정밀 분석하고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백종원 사례와의 비교를 통해 여론이 소강되는 주기를 도출합니다.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237744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636EFA"/>
                </a:solidFill>
                <a:latin typeface="Arial"/>
              </a:defRPr>
            </a:pPr>
            <a:r>
              <a:t>분석 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① 부정 여론의 증가율 및 최고점 도달 시점 분석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② 개인 범죄 vs 사업적 논란의 관심도 소요 주기 비교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③ 시계열 데이터를 통한 부정 여론의 감쇠 패턴 파악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④ 대중의 분노가 소강되는 변곡점 및 주기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064240" cy="210312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분석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임성근 댓글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31089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E33737"/>
                </a:solidFill>
                <a:latin typeface="Arial"/>
              </a:defRPr>
            </a:pPr>
            <a:r>
              <a:t>31,500건+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논란 발생 직후 집중 수집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75488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89204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백종원 댓글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257800"/>
            <a:ext cx="31089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636EFA"/>
                </a:solidFill>
                <a:latin typeface="Arial"/>
              </a:defRPr>
            </a:pPr>
            <a:r>
              <a:t>13,900건+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7150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논란기 vs 현재 비교군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5488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89204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영상 관심지수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257800"/>
            <a:ext cx="31089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636EFA"/>
                </a:solidFill>
                <a:latin typeface="Arial"/>
              </a:defRPr>
            </a:pPr>
            <a:r>
              <a:t>일별 트래킹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7150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부정 확산 및 소강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데이터 분석 방법론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3017520" cy="237744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3017520" cy="45720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데이터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YouTube API v3 활용</a:t>
            </a:r>
            <a:br/>
            <a:r>
              <a:t>실시간 댓글 데이터 확보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0520" y="2377440"/>
            <a:ext cx="320040" cy="274320"/>
          </a:xfrm>
          <a:prstGeom prst="rightArrow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017520" cy="237744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solidFill>
            <a:srgbClr val="FF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텍스트 정제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Kiwi 형태소 분석 및</a:t>
            </a:r>
            <a:br/>
            <a:r>
              <a:t>500+ 불용어 자동 필터링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2377440"/>
            <a:ext cx="320040" cy="274320"/>
          </a:xfrm>
          <a:prstGeom prst="rightArrow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9" y="1463040"/>
            <a:ext cx="3017520" cy="237744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63040"/>
            <a:ext cx="3017520" cy="45720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46304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0116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정밀 분석 (LLM)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4688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DeepSeek-V3 엔진 활용</a:t>
            </a:r>
            <a:br/>
            <a:r>
              <a:t>문맥 기반 6가지 감정 분류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389120"/>
            <a:ext cx="1554480" cy="1371600"/>
          </a:xfrm>
          <a:prstGeom prst="round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지지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46320"/>
            <a:ext cx="137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정밀 분류 모델로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맥락 분석 수행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39" y="4389120"/>
            <a:ext cx="1554480" cy="1371600"/>
          </a:xfrm>
          <a:prstGeom prst="round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39" y="443484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분노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79" y="4846320"/>
            <a:ext cx="137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정밀 분류 모델로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맥락 분석 수행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389120"/>
            <a:ext cx="1554480" cy="1371600"/>
          </a:xfrm>
          <a:prstGeom prst="round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43484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중립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46320"/>
            <a:ext cx="137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정밀 분류 모델로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맥락 분석 수행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4389120"/>
            <a:ext cx="1554480" cy="1371600"/>
          </a:xfrm>
          <a:prstGeom prst="roundRect">
            <a:avLst/>
          </a:prstGeom>
          <a:solidFill>
            <a:srgbClr val="FF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443484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실망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4846320"/>
            <a:ext cx="137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정밀 분류 모델로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맥락 분석 수행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4389120"/>
            <a:ext cx="1554480" cy="1371600"/>
          </a:xfrm>
          <a:prstGeom prst="roundRect">
            <a:avLst/>
          </a:prstGeom>
          <a:solidFill>
            <a:srgbClr val="AB6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443484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조롱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846320"/>
            <a:ext cx="137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정밀 분류 모델로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맥락 분석 수행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389120"/>
            <a:ext cx="1554480" cy="1371600"/>
          </a:xfrm>
          <a:prstGeom prst="roundRect">
            <a:avLst/>
          </a:prstGeom>
          <a:solidFill>
            <a:srgbClr val="B6E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443484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그외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846320"/>
            <a:ext cx="137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정밀 분류 모델로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맥락 분석 수행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임성근 여론 핵심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총 댓글 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2C3E50"/>
                </a:solidFill>
                <a:latin typeface="Arial"/>
              </a:defRPr>
            </a:pPr>
            <a:r>
              <a:t>31,668건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유효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논란 후 부정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E33737"/>
                </a:solidFill>
                <a:latin typeface="Arial"/>
              </a:defRPr>
            </a:pPr>
            <a:r>
              <a:t>66.8%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심각 수준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심각도 점수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E33737"/>
                </a:solidFill>
                <a:latin typeface="Arial"/>
              </a:defRPr>
            </a:pPr>
            <a:r>
              <a:t>6.7/10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보통 수준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57200" y="329184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400800" y="3291840"/>
            <a:ext cx="5303520" cy="31089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E33737"/>
                </a:solidFill>
                <a:latin typeface="Arial"/>
              </a:defRPr>
            </a:pPr>
            <a:r>
              <a:t>핵심 결과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31920"/>
            <a:ext cx="475488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● 부정 여론 비율 18.0% → 66.8%로 급등 (+48.8%p)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● 논란 후 '조롱' 감정이 42.4%로 지배적 형성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● 지지 댓글 평균 좋아요 54.1로 핵심 팬덤은 결집 양상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● 장기적 브랜드 타격 및 대중의 조롱 밈(Meme) 소비 우려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사건 전후 감정 격차 분석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463040"/>
            <a:ext cx="3291840" cy="45720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6459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E33737"/>
                </a:solidFill>
                <a:latin typeface="Arial"/>
              </a:defRPr>
            </a:pPr>
            <a:r>
              <a:t>관전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286000"/>
            <a:ext cx="29260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1. 조롱 감정의 폭발적 증가 (14.9% → 42.4%)</a:t>
            </a:r>
          </a:p>
          <a:p>
            <a:pPr algn="l">
              <a:lnSpc>
                <a:spcPct val="16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2. 충성 팬층을 의미하는 '지지'의 80% 이상 소멸</a:t>
            </a:r>
          </a:p>
          <a:p>
            <a:pPr algn="l">
              <a:lnSpc>
                <a:spcPct val="16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3. 사건의 도덕성 문제로 '분노' 비율 약 10배 증가</a:t>
            </a:r>
          </a:p>
          <a:p>
            <a:pPr algn="l">
              <a:lnSpc>
                <a:spcPct val="160000"/>
              </a:lnSpc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4. '중립' 성향이 줄고 냉소적인 여론으로 결집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백종원 vs 임성근 비교 분석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463040"/>
            <a:ext cx="4846320" cy="45720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C2833"/>
                </a:solidFill>
                <a:latin typeface="Arial"/>
              </a:defRPr>
            </a:pPr>
            <a:r>
              <a:t>핵심 차이점 및 가설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43891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■ 백종원: 조롱 38.0%, 분노 24.7%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- 사업적 실책성 논란 위주 -&gt; 공격적 성향(분노)이 상대적으로 강함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■ 임성근: 조롱 42.4%, 분노 15.0%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- 개인적/도덕적 실망 -&gt; 냉소적 반응(조롱)이 지배적으로 형성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ct val="140000"/>
              </a:lnSpc>
              <a:spcAft>
                <a:spcPts val="600"/>
              </a:spcAft>
              <a:defRPr sz="1300" b="1">
                <a:solidFill>
                  <a:srgbClr val="E33737"/>
                </a:solidFill>
                <a:latin typeface="Arial"/>
              </a:defRPr>
            </a:pPr>
            <a:r>
              <a:t>■ 가설 검증 결과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- 두 사례 모두 '조롱'이 '분노'를 압도하여 여론을 주도함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- 임성근 사례에서 감정 격차(27.4%p)가 백종원(13.3%p)보다 약 2배 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사례별 시계열 부정 여론 추이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5303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1645920"/>
          <a:ext cx="53035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영상 관심지수 트렌드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총 영상 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2E4053"/>
                </a:solidFill>
                <a:latin typeface="Arial"/>
              </a:defRPr>
            </a:pPr>
            <a:r>
              <a:t>1,655건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↓ 22개 (수렴 중)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총 조회수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2E4053"/>
                </a:solidFill>
                <a:latin typeface="Arial"/>
              </a:defRPr>
            </a:pPr>
            <a:r>
              <a:t>4.13억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↓ 51만 (관심도 소강)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총 좋아요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2E4053"/>
                </a:solidFill>
                <a:latin typeface="Arial"/>
              </a:defRPr>
            </a:pPr>
            <a:r>
              <a:t>391만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↓ 1,314 (추진력 감소)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총 댓글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874520"/>
            <a:ext cx="23774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600" b="1">
                <a:solidFill>
                  <a:srgbClr val="2E4053"/>
                </a:solidFill>
                <a:latin typeface="Arial"/>
              </a:defRPr>
            </a:pPr>
            <a:r>
              <a:t>21.4만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317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5929E"/>
                </a:solidFill>
                <a:latin typeface="Arial"/>
              </a:defRPr>
            </a:pPr>
            <a:r>
              <a:t>↑ 15건 (여론 고착화)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핵심 인사이트 &amp; 향후 전망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54864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3832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논란의 심각성과 성격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부정 비율 18% → 66.8%로 급격 팽창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단순 분노를 넘어 '조롱'(42.4%)이 핵심 기조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초기 분노가 가라앉아도 냉소적 여론이 고착화될 위험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대중의 밈(Meme) 소비로 인한 지속적 이미지 타격 발생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383280" cy="47548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383280" cy="548640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463040"/>
            <a:ext cx="33832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부정 여론 증가 및 소강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94560"/>
            <a:ext cx="30175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백종원 사례: 약 3~4개월 후 관심도 50% 수준 소강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임성근: 도덕적 결함으로 인해 더 긴 소강 주기 예상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1,655개 영상의 도달 범위가 넓어 소강까지 12개월 이상 소요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과열 시기 이후 발생하는 '무관심' 변곡점이 진정한 소강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383280" cy="47548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383280" cy="54864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3832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데이터 기반 대응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0175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감정 변곡점 포착을 위한 '댓글 톤(Tone)' 상시 트래킹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지지층(평균 좋아요 54.1) 결집 및 중립층 수용도 개선 필요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부정 확산 속도 제어를 없는 진정성 있는 소통 전략 필수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데이터는 단순 비난을 넘어 사회적 공감의 한계를 증명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84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AAB7B8"/>
                </a:solidFill>
                <a:latin typeface="Arial"/>
              </a:defRPr>
            </a:pPr>
            <a:r>
              <a:t>경청해 주셔서 감사합니다.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
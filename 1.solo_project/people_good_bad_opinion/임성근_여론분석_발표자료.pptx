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감성 그룹</c:v>
                </c:pt>
              </c:strCache>
            </c:strRef>
          </c:tx>
          <c:dPt>
            <c:idx val="0"/>
            <c:spPr>
              <a:solidFill>
                <a:srgbClr val="E33737"/>
              </a:solidFill>
            </c:spPr>
          </c:dPt>
          <c:dPt>
            <c:idx val="1"/>
            <c:spPr>
              <a:solidFill>
                <a:srgbClr val="00CC96"/>
              </a:solidFill>
            </c:spPr>
          </c:dPt>
          <c:dPt>
            <c:idx val="2"/>
            <c:spPr>
              <a:solidFill>
                <a:srgbClr val="AB63FA"/>
              </a:solidFill>
            </c:spPr>
          </c:dPt>
          <c:cat>
            <c:strRef>
              <c:f>Sheet1!$A$2:$A$4</c:f>
              <c:strCache>
                <c:ptCount val="3"/>
                <c:pt idx="0">
                  <c:v>부정</c:v>
                </c:pt>
                <c:pt idx="1">
                  <c:v>긍정</c:v>
                </c:pt>
                <c:pt idx="2">
                  <c:v>그외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논란 전</c:v>
                </c:pt>
              </c:strCache>
            </c:strRef>
          </c:tx>
          <c:spPr>
            <a:solidFill>
              <a:srgbClr val="636EFA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지지</c:v>
                </c:pt>
                <c:pt idx="1">
                  <c:v>분노</c:v>
                </c:pt>
                <c:pt idx="2">
                  <c:v>중립</c:v>
                </c:pt>
                <c:pt idx="3">
                  <c:v>실망</c:v>
                </c:pt>
                <c:pt idx="4">
                  <c:v>조롱</c:v>
                </c:pt>
                <c:pt idx="5">
                  <c:v>그외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25.2</c:v>
                </c:pt>
                <c:pt idx="1">
                  <c:v>18.5</c:v>
                </c:pt>
                <c:pt idx="2">
                  <c:v>30.1</c:v>
                </c:pt>
                <c:pt idx="3">
                  <c:v>12.3</c:v>
                </c:pt>
                <c:pt idx="4">
                  <c:v>8.7</c:v>
                </c:pt>
                <c:pt idx="5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논란 후</c:v>
                </c:pt>
              </c:strCache>
            </c:strRef>
          </c:tx>
          <c:spPr>
            <a:solidFill>
              <a:srgbClr val="E33737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지지</c:v>
                </c:pt>
                <c:pt idx="1">
                  <c:v>분노</c:v>
                </c:pt>
                <c:pt idx="2">
                  <c:v>중립</c:v>
                </c:pt>
                <c:pt idx="3">
                  <c:v>실망</c:v>
                </c:pt>
                <c:pt idx="4">
                  <c:v>조롱</c:v>
                </c:pt>
                <c:pt idx="5">
                  <c:v>그외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8.1</c:v>
                </c:pt>
                <c:pt idx="1">
                  <c:v>38.7</c:v>
                </c:pt>
                <c:pt idx="2">
                  <c:v>12.4</c:v>
                </c:pt>
                <c:pt idx="3">
                  <c:v>22.5</c:v>
                </c:pt>
                <c:pt idx="4">
                  <c:v>13.8</c:v>
                </c:pt>
                <c:pt idx="5">
                  <c:v>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t>비율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임성근</c:v>
                </c:pt>
              </c:strCache>
            </c:strRef>
          </c:tx>
          <c:dPt>
            <c:idx val="0"/>
            <c:spPr>
              <a:solidFill>
                <a:srgbClr val="E33737"/>
              </a:solidFill>
            </c:spPr>
          </c:dPt>
          <c:dPt>
            <c:idx val="1"/>
            <c:spPr>
              <a:solidFill>
                <a:srgbClr val="FFA15A"/>
              </a:solidFill>
            </c:spPr>
          </c:dPt>
          <c:dPt>
            <c:idx val="2"/>
            <c:spPr>
              <a:solidFill>
                <a:srgbClr val="AB63FA"/>
              </a:solidFill>
            </c:spPr>
          </c:dPt>
          <c:dPt>
            <c:idx val="3"/>
            <c:spPr>
              <a:solidFill>
                <a:srgbClr val="636EFA"/>
              </a:solidFill>
            </c:spPr>
          </c:dPt>
          <c:dPt>
            <c:idx val="4"/>
            <c:spPr>
              <a:solidFill>
                <a:srgbClr val="00CC96"/>
              </a:solidFill>
            </c:spPr>
          </c:dPt>
          <c:dPt>
            <c:idx val="5"/>
            <c:spPr>
              <a:solidFill>
                <a:srgbClr val="B6E880"/>
              </a:solidFill>
            </c:spPr>
          </c:dPt>
          <c:cat>
            <c:strRef>
              <c:f>Sheet1!$A$2:$A$7</c:f>
              <c:strCache>
                <c:ptCount val="6"/>
                <c:pt idx="0">
                  <c:v>분노</c:v>
                </c:pt>
                <c:pt idx="1">
                  <c:v>실망</c:v>
                </c:pt>
                <c:pt idx="2">
                  <c:v>조롱</c:v>
                </c:pt>
                <c:pt idx="3">
                  <c:v>중립</c:v>
                </c:pt>
                <c:pt idx="4">
                  <c:v>지지</c:v>
                </c:pt>
                <c:pt idx="5">
                  <c:v>그외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38.7</c:v>
                </c:pt>
                <c:pt idx="1">
                  <c:v>22.5</c:v>
                </c:pt>
                <c:pt idx="2">
                  <c:v>13.8</c:v>
                </c:pt>
                <c:pt idx="3">
                  <c:v>12.4</c:v>
                </c:pt>
                <c:pt idx="4">
                  <c:v>8.1</c:v>
                </c:pt>
                <c:pt idx="5">
                  <c:v>4.5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백종원</c:v>
                </c:pt>
              </c:strCache>
            </c:strRef>
          </c:tx>
          <c:dPt>
            <c:idx val="0"/>
            <c:spPr>
              <a:solidFill>
                <a:srgbClr val="E33737"/>
              </a:solidFill>
            </c:spPr>
          </c:dPt>
          <c:dPt>
            <c:idx val="1"/>
            <c:spPr>
              <a:solidFill>
                <a:srgbClr val="FFA15A"/>
              </a:solidFill>
            </c:spPr>
          </c:dPt>
          <c:dPt>
            <c:idx val="2"/>
            <c:spPr>
              <a:solidFill>
                <a:srgbClr val="AB63FA"/>
              </a:solidFill>
            </c:spPr>
          </c:dPt>
          <c:dPt>
            <c:idx val="3"/>
            <c:spPr>
              <a:solidFill>
                <a:srgbClr val="636EFA"/>
              </a:solidFill>
            </c:spPr>
          </c:dPt>
          <c:dPt>
            <c:idx val="4"/>
            <c:spPr>
              <a:solidFill>
                <a:srgbClr val="00CC96"/>
              </a:solidFill>
            </c:spPr>
          </c:dPt>
          <c:dPt>
            <c:idx val="5"/>
            <c:spPr>
              <a:solidFill>
                <a:srgbClr val="B6E880"/>
              </a:solidFill>
            </c:spPr>
          </c:dPt>
          <c:cat>
            <c:strRef>
              <c:f>Sheet1!$A$2:$A$7</c:f>
              <c:strCache>
                <c:ptCount val="6"/>
                <c:pt idx="0">
                  <c:v>분노</c:v>
                </c:pt>
                <c:pt idx="1">
                  <c:v>실망</c:v>
                </c:pt>
                <c:pt idx="2">
                  <c:v>조롱</c:v>
                </c:pt>
                <c:pt idx="3">
                  <c:v>중립</c:v>
                </c:pt>
                <c:pt idx="4">
                  <c:v>지지</c:v>
                </c:pt>
                <c:pt idx="5">
                  <c:v>그외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25.3</c:v>
                </c:pt>
                <c:pt idx="1">
                  <c:v>18.1</c:v>
                </c:pt>
                <c:pt idx="2">
                  <c:v>20.5</c:v>
                </c:pt>
                <c:pt idx="3">
                  <c:v>15.2</c:v>
                </c:pt>
                <c:pt idx="4">
                  <c:v>12.8</c:v>
                </c:pt>
                <c:pt idx="5">
                  <c:v>8.1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 비율 (%)</c:v>
                </c:pt>
              </c:strCache>
            </c:strRef>
          </c:tx>
          <c:spPr>
            <a:ln w="38100">
              <a:solidFill>
                <a:srgbClr val="E33737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01/12</c:v>
                </c:pt>
                <c:pt idx="1">
                  <c:v>01/13</c:v>
                </c:pt>
                <c:pt idx="2">
                  <c:v>01/14</c:v>
                </c:pt>
                <c:pt idx="3">
                  <c:v>01/15</c:v>
                </c:pt>
                <c:pt idx="4">
                  <c:v>01/16</c:v>
                </c:pt>
                <c:pt idx="5">
                  <c:v>01/17</c:v>
                </c:pt>
                <c:pt idx="6">
                  <c:v>01/18</c:v>
                </c:pt>
                <c:pt idx="7">
                  <c:v>01/19*</c:v>
                </c:pt>
                <c:pt idx="8">
                  <c:v>01/20</c:v>
                </c:pt>
                <c:pt idx="9">
                  <c:v>01/21</c:v>
                </c:pt>
                <c:pt idx="10">
                  <c:v>01/22</c:v>
                </c:pt>
                <c:pt idx="11">
                  <c:v>01/23</c:v>
                </c:pt>
                <c:pt idx="12">
                  <c:v>01/24</c:v>
                </c:pt>
                <c:pt idx="13">
                  <c:v>01/25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42</c:v>
                </c:pt>
                <c:pt idx="1">
                  <c:v>38</c:v>
                </c:pt>
                <c:pt idx="2">
                  <c:v>45</c:v>
                </c:pt>
                <c:pt idx="3">
                  <c:v>40</c:v>
                </c:pt>
                <c:pt idx="4">
                  <c:v>43</c:v>
                </c:pt>
                <c:pt idx="5">
                  <c:v>47</c:v>
                </c:pt>
                <c:pt idx="6">
                  <c:v>44</c:v>
                </c:pt>
                <c:pt idx="7">
                  <c:v>78</c:v>
                </c:pt>
                <c:pt idx="8">
                  <c:v>88</c:v>
                </c:pt>
                <c:pt idx="9">
                  <c:v>85</c:v>
                </c:pt>
                <c:pt idx="10">
                  <c:v>82</c:v>
                </c:pt>
                <c:pt idx="11">
                  <c:v>80</c:v>
                </c:pt>
                <c:pt idx="12">
                  <c:v>79</c:v>
                </c:pt>
                <c:pt idx="13">
                  <c:v>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부정 비율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부정 비율 (%)</c:v>
                </c:pt>
              </c:strCache>
            </c:strRef>
          </c:tx>
          <c:spPr>
            <a:solidFill>
              <a:srgbClr val="636EFA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  <c:pt idx="8">
                  <c:v>2025-10</c:v>
                </c:pt>
                <c:pt idx="9">
                  <c:v>2025-11</c:v>
                </c:pt>
                <c:pt idx="10">
                  <c:v>2025-12</c:v>
                </c:pt>
                <c:pt idx="11">
                  <c:v>2026-01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78</c:v>
                </c:pt>
                <c:pt idx="2">
                  <c:v>70</c:v>
                </c:pt>
                <c:pt idx="3">
                  <c:v>62</c:v>
                </c:pt>
                <c:pt idx="4">
                  <c:v>58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  <c:pt idx="8">
                  <c:v>48</c:v>
                </c:pt>
                <c:pt idx="9">
                  <c:v>46</c:v>
                </c:pt>
                <c:pt idx="10">
                  <c:v>45</c:v>
                </c:pt>
                <c:pt idx="11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부정 비율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조회수 (만)</c:v>
                </c:pt>
              </c:strCache>
            </c:strRef>
          </c:tx>
          <c:spPr>
            <a:ln w="38100">
              <a:solidFill>
                <a:srgbClr val="636EFA"/>
              </a:solidFill>
            </a:ln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01/20</c:v>
                </c:pt>
                <c:pt idx="1">
                  <c:v>01/21</c:v>
                </c:pt>
                <c:pt idx="2">
                  <c:v>01/22</c:v>
                </c:pt>
                <c:pt idx="3">
                  <c:v>01/23</c:v>
                </c:pt>
                <c:pt idx="4">
                  <c:v>01/24</c:v>
                </c:pt>
                <c:pt idx="5">
                  <c:v>01/25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250</c:v>
                </c:pt>
                <c:pt idx="2">
                  <c:v>380</c:v>
                </c:pt>
                <c:pt idx="3">
                  <c:v>430</c:v>
                </c:pt>
                <c:pt idx="4">
                  <c:v>470</c:v>
                </c:pt>
                <c:pt idx="5">
                  <c:v>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누적 조회수 (만)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조회수 증감률 (%)</c:v>
                </c:pt>
              </c:strCache>
            </c:strRef>
          </c:tx>
          <c:spPr>
            <a:solidFill>
              <a:srgbClr val="636EFA"/>
            </a:solidFill>
          </c:spPr>
          <c:cat>
            <c:strRef>
              <c:f>Sheet1!$A$2:$A$6</c:f>
              <c:strCache>
                <c:ptCount val="5"/>
                <c:pt idx="0">
                  <c:v>01/21</c:v>
                </c:pt>
                <c:pt idx="1">
                  <c:v>01/22</c:v>
                </c:pt>
                <c:pt idx="2">
                  <c:v>01/23</c:v>
                </c:pt>
                <c:pt idx="3">
                  <c:v>01/24</c:v>
                </c:pt>
                <c:pt idx="4">
                  <c:v>01/25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52</c:v>
                </c:pt>
                <c:pt idx="2">
                  <c:v>13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좋아요 증감률 (%)</c:v>
                </c:pt>
              </c:strCache>
            </c:strRef>
          </c:tx>
          <c:spPr>
            <a:solidFill>
              <a:srgbClr val="E33737"/>
            </a:solidFill>
          </c:spPr>
          <c:cat>
            <c:strRef>
              <c:f>Sheet1!$A$2:$A$6</c:f>
              <c:strCache>
                <c:ptCount val="5"/>
                <c:pt idx="0">
                  <c:v>01/21</c:v>
                </c:pt>
                <c:pt idx="1">
                  <c:v>01/22</c:v>
                </c:pt>
                <c:pt idx="2">
                  <c:v>01/23</c:v>
                </c:pt>
                <c:pt idx="3">
                  <c:v>01/24</c:v>
                </c:pt>
                <c:pt idx="4">
                  <c:v>01/25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</c:v>
                </c:pt>
                <c:pt idx="1">
                  <c:v>45</c:v>
                </c:pt>
                <c:pt idx="2">
                  <c:v>10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증감률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임성근 음주운전 논란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>
                <a:solidFill>
                  <a:srgbClr val="E33737"/>
                </a:solidFill>
                <a:latin typeface="Arial"/>
              </a:defRPr>
            </a:pPr>
            <a:r>
              <a:t>YouTube 댓글 여론 분석 프로젝트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47695" cy="18288"/>
          </a:xfrm>
          <a:prstGeom prst="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AAB7B8"/>
                </a:solidFill>
                <a:latin typeface="Arial"/>
              </a:defRPr>
            </a:pPr>
            <a:r>
              <a:t>백종원 사례 비교를 통한 데이터 기반 심층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5929E"/>
                </a:solidFill>
                <a:latin typeface="Arial"/>
              </a:defRPr>
            </a:pPr>
            <a:r>
              <a:t>2026.01  |  KDT 웅진 솔로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33737"/>
                </a:solidFill>
                <a:latin typeface="Arial"/>
              </a:defRPr>
            </a:pPr>
            <a:r>
              <a:t>분석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2026년 1월 19일, 유튜버 임성근이 과거 음주운전 사실을 고백하면서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유튜브 댓글을 중심으로 급격한 여론 변화가 발생했습니다.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이 프로젝트는 해당 사건 전후의 여론을 데이터로 분석하고,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유사 사례인 백종원 논란과 비교하여 인사이트를 도출합니다.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636EFA"/>
                </a:solidFill>
                <a:latin typeface="Arial"/>
              </a:defRPr>
            </a:pPr>
            <a:r>
              <a:t>분석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①  논란의 심각성을 수치로 평가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     - 부정 여론 비율, 감정 강도, 대중 공감도 분석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②  백종원 사례와의 비교 분석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     - 사업적 논란 vs 개인 범죄의 여론 양상 차이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③  여론 회복 가능성 탐색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     - 시계열 데이터를 통한 추이 파악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77295" cy="228600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분석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임성근 댓글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E33737"/>
                </a:solidFill>
                <a:latin typeface="Arial"/>
              </a:defRPr>
            </a:pPr>
            <a:r>
              <a:t>~500개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논란 전후 (2026.01)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6634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480060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백종원 댓글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5120640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636EFA"/>
                </a:solidFill>
                <a:latin typeface="Arial"/>
              </a:defRPr>
            </a:pPr>
            <a:r>
              <a:t>~3,000개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57607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논란기 + 현재 (2025.02~2026.01)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6634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80060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영상 트렌드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20640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636EFA"/>
                </a:solidFill>
                <a:latin typeface="Arial"/>
              </a:defRPr>
            </a:pPr>
            <a:r>
              <a:t>일별 수집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7607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조회수/좋아요/댓글수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분석 방법론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데이터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2860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YouTube API를 통한</a:t>
            </a:r>
            <a:br/>
            <a:r>
              <a:t>댓글 자동 수집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2468880"/>
            <a:ext cx="274320" cy="274320"/>
          </a:xfrm>
          <a:prstGeom prst="rightArrow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solidFill>
            <a:srgbClr val="FF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텍스트 정제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2860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ET5 맞춤법 교정</a:t>
            </a:r>
            <a:br/>
            <a:r>
              <a:t>불용어 제거 (500+)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2468880"/>
            <a:ext cx="274320" cy="274320"/>
          </a:xfrm>
          <a:prstGeom prst="rightArrow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256032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560320" cy="50292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BERT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51760"/>
            <a:ext cx="22860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KoBERT 기반</a:t>
            </a:r>
            <a:br/>
            <a:r>
              <a:t>초기 감정 분류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15400" y="2468880"/>
            <a:ext cx="274320" cy="274320"/>
          </a:xfrm>
          <a:prstGeom prst="rightArrow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1463040"/>
            <a:ext cx="2560320" cy="256032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2560320" cy="50292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C3E50"/>
                </a:solidFill>
                <a:latin typeface="Arial"/>
              </a:defRPr>
            </a:pPr>
            <a:r>
              <a:t>LLM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651760"/>
            <a:ext cx="22860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DeepSeek LLM</a:t>
            </a:r>
            <a:br/>
            <a:r>
              <a:t>정밀 감정 분석 (6분류)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C3E50"/>
                </a:solidFill>
                <a:latin typeface="Arial"/>
              </a:defRPr>
            </a:pPr>
            <a:r>
              <a:t>6가지 감정 분류 체계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1737360" cy="914400"/>
          </a:xfrm>
          <a:prstGeom prst="round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지지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긍정적 응원, 옹호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4846320"/>
            <a:ext cx="1737360" cy="914400"/>
          </a:xfrm>
          <a:prstGeom prst="round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분노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직접적 비난, 화남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846320"/>
            <a:ext cx="1737360" cy="914400"/>
          </a:xfrm>
          <a:prstGeom prst="round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중립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객관적 의견, 중도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846320"/>
            <a:ext cx="1737360" cy="914400"/>
          </a:xfrm>
          <a:prstGeom prst="roundRect">
            <a:avLst/>
          </a:prstGeom>
          <a:solidFill>
            <a:srgbClr val="FF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실망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기대 저버림, 안타까움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846320"/>
            <a:ext cx="1737360" cy="914400"/>
          </a:xfrm>
          <a:prstGeom prst="roundRect">
            <a:avLst/>
          </a:prstGeom>
          <a:solidFill>
            <a:srgbClr val="AB6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조롱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비꼼, 풍자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4846320"/>
            <a:ext cx="1737360" cy="914400"/>
          </a:xfrm>
          <a:prstGeom prst="roundRect">
            <a:avLst/>
          </a:prstGeom>
          <a:solidFill>
            <a:srgbClr val="B6E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489204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그외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2578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분류 불가, 무관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389120"/>
            <a:ext cx="5303520" cy="1371600"/>
          </a:xfrm>
          <a:prstGeom prst="round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43484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인프라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8006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DB: Supabase (PostgreSQL)     |     시각화: Streamlit + Plotly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AAB7B8"/>
                </a:solidFill>
                <a:latin typeface="Arial"/>
              </a:defRPr>
            </a:pPr>
            <a:r>
              <a:t>자동수집: GitHub Actions       |     LLM: DeepSeek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임성근 여론 현황: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총 댓글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2C3E50"/>
                </a:solidFill>
                <a:latin typeface="Arial"/>
              </a:defRPr>
            </a:pPr>
            <a:r>
              <a:t>509건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수집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전체 부정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E33737"/>
                </a:solidFill>
                <a:latin typeface="Arial"/>
              </a:defRPr>
            </a:pPr>
            <a:r>
              <a:t>78.0%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High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논란 후 부정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E33737"/>
                </a:solidFill>
                <a:latin typeface="Arial"/>
              </a:defRPr>
            </a:pPr>
            <a:r>
              <a:t>85.3%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급격한 악화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심각도 점수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E33737"/>
                </a:solidFill>
                <a:latin typeface="Arial"/>
              </a:defRPr>
            </a:pPr>
            <a:r>
              <a:t>8.5/10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5176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매우 심각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338328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943600" y="3383280"/>
            <a:ext cx="5760720" cy="32004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E33737"/>
                </a:solidFill>
                <a:latin typeface="Arial"/>
              </a:defRPr>
            </a:pPr>
            <a:r>
              <a:t>핵심 분석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31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400" b="1">
                <a:solidFill>
                  <a:srgbClr val="2C3E50"/>
                </a:solidFill>
                <a:latin typeface="Arial"/>
              </a:defRPr>
            </a:pPr>
            <a:r>
              <a:t>전체 댓글의 약 78%가 부정적 감정을 표현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▶  논란 전 부정 비율: 약 45% → 논란 후: 85%+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▶  부정 비율이 40%p 이상 급등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▶  주요 감정: 분노 &gt; 실망 &gt; 조롱 순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400" b="1">
                <a:solidFill>
                  <a:srgbClr val="E33737"/>
                </a:solidFill>
                <a:latin typeface="Arial"/>
              </a:defRPr>
            </a:pPr>
            <a:r>
              <a:t>심각도 점수 8.5/10으로 '매우 심각' 등급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가장 공감받는 감정은 '분노'로, 대중의 비난 여론이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강력하게 결집된 상태입니다.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논란 전후 6가지 감정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AB7B8"/>
                </a:solidFill>
                <a:latin typeface="Arial"/>
              </a:defRPr>
            </a:pPr>
            <a:r>
              <a:t>2026년 1월 19일 기준, 논란 전/후 감정 비율 비교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371600"/>
            <a:ext cx="3840480" cy="45720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E33737"/>
                </a:solidFill>
                <a:latin typeface="Arial"/>
              </a:defRPr>
            </a:pPr>
            <a:r>
              <a:t>주요 변화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600" b="1">
                <a:solidFill>
                  <a:srgbClr val="E33737"/>
                </a:solidFill>
                <a:latin typeface="Arial"/>
              </a:defRPr>
            </a:pPr>
            <a:r>
              <a:t>분노 급증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E33737"/>
                </a:solidFill>
                <a:latin typeface="Arial"/>
              </a:defRPr>
            </a:pPr>
            <a:r>
              <a:t>18.5% → 38.7% (+20.2%p)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논란 후 가장 지배적인 감정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600" b="1">
                <a:solidFill>
                  <a:srgbClr val="00CC96"/>
                </a:solidFill>
                <a:latin typeface="Arial"/>
              </a:defRPr>
            </a:pPr>
            <a:r>
              <a:t>지지 급감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00CC96"/>
                </a:solidFill>
                <a:latin typeface="Arial"/>
              </a:defRPr>
            </a:pPr>
            <a:r>
              <a:t>25.2% → 8.1% (-17.1%p)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기존 팬층의 이탈 신호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600" b="1">
                <a:solidFill>
                  <a:srgbClr val="FFA15A"/>
                </a:solidFill>
                <a:latin typeface="Arial"/>
              </a:defRPr>
            </a:pPr>
            <a:r>
              <a:t>실망 증가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FA15A"/>
                </a:solidFill>
                <a:latin typeface="Arial"/>
              </a:defRPr>
            </a:pPr>
            <a:r>
              <a:t>12.3% → 22.5% (+10.2%p)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신뢰 하락을 반영하는 핵심 지표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600" b="1">
                <a:solidFill>
                  <a:srgbClr val="636EFA"/>
                </a:solidFill>
                <a:latin typeface="Arial"/>
              </a:defRPr>
            </a:pPr>
            <a:r>
              <a:t>중립 감소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636EFA"/>
                </a:solidFill>
                <a:latin typeface="Arial"/>
              </a:defRPr>
            </a:pPr>
            <a:r>
              <a:t>30.1% → 12.4% (-17.7%p)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여론이 뚜렷하게 양극화됨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감성 비교분석: 임성근 vs 백종원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AB7B8"/>
                </a:solidFill>
                <a:latin typeface="Arial"/>
              </a:defRPr>
            </a:pPr>
            <a:r>
              <a:t>두 사건의 여론 감정 구조 차이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28016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E33737"/>
                </a:solidFill>
                <a:latin typeface="Arial"/>
              </a:defRPr>
            </a:pPr>
            <a:r>
              <a:t>임성근 (논란 후)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89120" y="1280160"/>
          <a:ext cx="41148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0" y="11887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636EFA"/>
                </a:solidFill>
                <a:latin typeface="Arial"/>
              </a:defRPr>
            </a:pPr>
            <a:r>
              <a:t>백종원 (논란기)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280160"/>
            <a:ext cx="3200400" cy="32004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37160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C2833"/>
                </a:solidFill>
                <a:latin typeface="Arial"/>
              </a:defRPr>
            </a:pPr>
            <a:r>
              <a:t>가설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8288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Q. 분노인가, 조롱인가?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1">
                <a:solidFill>
                  <a:srgbClr val="E33737"/>
                </a:solidFill>
                <a:latin typeface="Arial"/>
              </a:defRPr>
            </a:pPr>
            <a:r>
              <a:t>임성근 (범죄 성격)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  분노 38.7% &gt; 조롱 13.8%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  → 직접적 비난이 주류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1">
                <a:solidFill>
                  <a:srgbClr val="636EFA"/>
                </a:solidFill>
                <a:latin typeface="Arial"/>
              </a:defRPr>
            </a:pPr>
            <a:r>
              <a:t>백종원 (사업적 논란)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  분노 25.3% ≈ 조롱 20.5%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  → 비꼼/풍자 비율이 상대적으로 높음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754880"/>
            <a:ext cx="11612880" cy="1828800"/>
          </a:xfrm>
          <a:prstGeom prst="round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핵심 차이점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AB7B8"/>
                </a:solidFill>
                <a:latin typeface="Arial"/>
              </a:defRPr>
            </a:pPr>
            <a:r>
              <a:t>논란 성격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9999"/>
                </a:solidFill>
                <a:latin typeface="Arial"/>
              </a:defRPr>
            </a:pPr>
            <a:r>
              <a:t>임성근: 개인 범죄 행위 (음주운전)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9BBFF"/>
                </a:solidFill>
                <a:latin typeface="Arial"/>
              </a:defRPr>
            </a:pPr>
            <a:r>
              <a:t>백종원: 사업적 문제 (가맹점/원산지)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2578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AB7B8"/>
                </a:solidFill>
                <a:latin typeface="Arial"/>
              </a:defRPr>
            </a:pPr>
            <a:r>
              <a:t>주요 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321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9999"/>
                </a:solidFill>
                <a:latin typeface="Arial"/>
              </a:defRPr>
            </a:pPr>
            <a:r>
              <a:t>임성근: 분노(38.7%) 압도적 1위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8064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9BBFF"/>
                </a:solidFill>
                <a:latin typeface="Arial"/>
              </a:defRPr>
            </a:pPr>
            <a:r>
              <a:t>백종원: 분노(25.3%)와 조롱(20.5%) 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578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AB7B8"/>
                </a:solidFill>
                <a:latin typeface="Arial"/>
              </a:defRPr>
            </a:pPr>
            <a:r>
              <a:t>회복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5321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9999"/>
                </a:solidFill>
                <a:latin typeface="Arial"/>
              </a:defRPr>
            </a:pPr>
            <a:r>
              <a:t>임성근: 인격 신뢰 붕괴 → 회복 어려움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8064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9BBFF"/>
                </a:solidFill>
                <a:latin typeface="Arial"/>
              </a:defRPr>
            </a:pPr>
            <a:r>
              <a:t>백종원: 시스템 개선으로 회복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시계열 추이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AB7B8"/>
                </a:solidFill>
                <a:latin typeface="Arial"/>
              </a:defRPr>
            </a:pPr>
            <a:r>
              <a:t>논란 전후 부정 여론의 시간적 변화 패턴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280160"/>
          <a:ext cx="7772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118872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33737"/>
                </a:solidFill>
                <a:latin typeface="Arial"/>
              </a:defRPr>
            </a:pPr>
            <a:r>
              <a:t>임성근: 논란 전후 1주일 부정 여론 추이 (*01/19 = 논란 일자)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80160"/>
            <a:ext cx="3657600" cy="27432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716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E33737"/>
                </a:solidFill>
                <a:latin typeface="Arial"/>
              </a:defRPr>
            </a:pPr>
            <a:r>
              <a:t>임성근 시계열 특징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▶ 논란 전: 평균 42.7%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▶ 논란 후: 평균 81.1%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▶ 부정 비율 약 2배 급등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01/19(논란일)에 78%로 급등 후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01/20에 88%로 정점, 이후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점진적 하락 추세 관찰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4297680"/>
          <a:ext cx="7772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416052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36EFA"/>
                </a:solidFill>
                <a:latin typeface="Arial"/>
              </a:defRPr>
            </a:pPr>
            <a:r>
              <a:t>백종원: 장기 월별 부정 여론 추이 (2025.02 ~ 2026.01)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97680"/>
            <a:ext cx="3657600" cy="237744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636EFA"/>
                </a:solidFill>
                <a:latin typeface="Arial"/>
              </a:defRPr>
            </a:pPr>
            <a:r>
              <a:t>백종원 회복 패턴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▶ 논란 초기: 85%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▶ 10개월 후: 44%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▶ 약 41%p 하락 (회복)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월평균 약 4%p씩 감소하는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완만한 회복 곡선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관심지수 분석 (영상 트렌드)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AB7B8"/>
                </a:solidFill>
                <a:latin typeface="Arial"/>
              </a:defRPr>
            </a:pPr>
            <a:r>
              <a:t>임성근 관련 YouTube 영상의 조회수/좋아요/댓글 트렌드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수집 영상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2C3E50"/>
                </a:solidFill>
                <a:latin typeface="Arial"/>
              </a:defRPr>
            </a:pPr>
            <a:r>
              <a:t>40+개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일별 자동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총 조회수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636EFA"/>
                </a:solidFill>
                <a:latin typeface="Arial"/>
              </a:defRPr>
            </a:pPr>
            <a:r>
              <a:t>500만+회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관심도 핵심 지표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총 좋아요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E33737"/>
                </a:solidFill>
                <a:latin typeface="Arial"/>
              </a:defRPr>
            </a:pPr>
            <a:r>
              <a:t>15만+개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대중 반응 강도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5929E"/>
                </a:solidFill>
                <a:latin typeface="Arial"/>
              </a:defRPr>
            </a:pPr>
            <a:r>
              <a:t>총 댓글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00CC96"/>
                </a:solidFill>
                <a:latin typeface="Arial"/>
              </a:defRPr>
            </a:pPr>
            <a:r>
              <a:t>1만+건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6888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85929E"/>
                </a:solidFill>
                <a:latin typeface="Arial"/>
              </a:defRPr>
            </a:pPr>
            <a:r>
              <a:t>여론 참여도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3200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36EFA"/>
                </a:solidFill>
                <a:latin typeface="Arial"/>
              </a:defRPr>
            </a:pPr>
            <a:r>
              <a:t>조회수 누적 추이 (수집일 기준)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217920" y="3200400"/>
          <a:ext cx="54864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17920" y="3017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33737"/>
                </a:solidFill>
                <a:latin typeface="Arial"/>
              </a:defRPr>
            </a:pPr>
            <a:r>
              <a:t>전일 대비 관심지표 증감률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핵심 인사이트 &amp; 결론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08760"/>
            <a:ext cx="548640" cy="548640"/>
          </a:xfrm>
          <a:prstGeom prst="ellipse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33737"/>
                </a:solidFill>
                <a:latin typeface="Arial"/>
              </a:defRPr>
            </a:pPr>
            <a:r>
              <a:t>논란의 심각성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291840" cy="18288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부정 여론 78%로 '매우 심각' 등급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분노(38.7%)가 압도적 1위 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논란 후 부정 비율 2배 급등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좋아요 기반 대중 공감도도 부정에 집중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1508760"/>
            <a:ext cx="548640" cy="548640"/>
          </a:xfrm>
          <a:prstGeom prst="ellipse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087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544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636EFA"/>
                </a:solidFill>
                <a:latin typeface="Arial"/>
              </a:defRPr>
            </a:pPr>
            <a:r>
              <a:t>백종원 사례와의 차이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194560"/>
            <a:ext cx="3291840" cy="18288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3774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범죄 행위 vs 사업적 문제: 성격이 다름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63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임성근은 '분노' 집중, 백종원은 '분노+조롱' 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39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백종원은 10개월에 걸쳐 부정 40%p 하락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임성근은 인격 신뢰 붕괴로 회복이 더 어려울 전망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80" y="1508760"/>
            <a:ext cx="548640" cy="548640"/>
          </a:xfrm>
          <a:prstGeom prst="ellipse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50876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5544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CC96"/>
                </a:solidFill>
                <a:latin typeface="Arial"/>
              </a:defRPr>
            </a:pPr>
            <a:r>
              <a:t>회복 전망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3291840" cy="18288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3774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백종원 패턴 적용 시 최소 10개월 이상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63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그러나 범죄적 성격으로 회복 속도는 더 느릴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49039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월평균 3%p 하락 시 12~15개월 소요 예상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348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 적극적 사과와 자숙이 회복의 전제 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962095" cy="54864"/>
          </a:xfrm>
          <a:prstGeom prst="rect">
            <a:avLst/>
          </a:prstGeom>
          <a:solidFill>
            <a:srgbClr val="E3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AAB7B8"/>
                </a:solidFill>
                <a:latin typeface="Arial"/>
              </a:defRPr>
            </a:pPr>
            <a:r>
              <a:t>질문 및 토론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572000"/>
            <a:ext cx="3962095" cy="27432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484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5929E"/>
                </a:solidFill>
                <a:latin typeface="Arial"/>
              </a:defRPr>
            </a:pPr>
            <a:r>
              <a:t>임성근 음주운전 논란 여론 분석  |  2026.01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84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5929E"/>
                </a:solidFill>
                <a:latin typeface="Arial"/>
              </a:defRPr>
            </a:pPr>
            <a:r>
              <a:t>데이터 기반 분석  •  YouTube 댓글  •  NLP/LLM  •  Streamlit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AAB7B8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